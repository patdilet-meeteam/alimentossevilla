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b5d5f0834e34ff3" /><Relationship Type="http://schemas.openxmlformats.org/officeDocument/2006/relationships/extended-properties" Target="/docProps/app.xml" Id="Rc46ba12f4c204a22" /><Relationship Type="http://schemas.openxmlformats.org/officeDocument/2006/relationships/officeDocument" Target="/ppt/presentation.xml" Id="Rb98b6605dd21463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06e551d784648d3"/>
  </p:sldMasterIdLst>
  <p:notesMasterIdLst>
    <p:notesMasterId xmlns:r="http://schemas.openxmlformats.org/officeDocument/2006/relationships" r:id="R0e47b769cb5047d3"/>
  </p:notesMasterIdLst>
  <p:sldIdLst>
    <p:sldId xmlns:r="http://schemas.openxmlformats.org/officeDocument/2006/relationships" id="256" r:id="Rb9bfba064763499b"/>
    <p:sldId xmlns:r="http://schemas.openxmlformats.org/officeDocument/2006/relationships" id="257" r:id="R87d4ec5d34eb43f0"/>
    <p:sldId xmlns:r="http://schemas.openxmlformats.org/officeDocument/2006/relationships" id="258" r:id="R8474d145af2745e2"/>
    <p:sldId xmlns:r="http://schemas.openxmlformats.org/officeDocument/2006/relationships" id="259" r:id="R3b7cf32c75c046bc"/>
    <p:sldId xmlns:r="http://schemas.openxmlformats.org/officeDocument/2006/relationships" id="260" r:id="R4cd70265e39943e2"/>
    <p:sldId xmlns:r="http://schemas.openxmlformats.org/officeDocument/2006/relationships" id="261" r:id="R87dfcf4fb06b40f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9520da32ff543be" /><Relationship Type="http://schemas.openxmlformats.org/officeDocument/2006/relationships/slideMaster" Target="/ppt/slideMasters/slideMaster1.xml" Id="R306e551d784648d3" /><Relationship Type="http://schemas.openxmlformats.org/officeDocument/2006/relationships/notesMaster" Target="/ppt/notesMasters/notesMaster1.xml" Id="R0e47b769cb5047d3" /><Relationship Type="http://schemas.openxmlformats.org/officeDocument/2006/relationships/presProps" Target="/ppt/presProps.xml" Id="R5220b979134b4144" /><Relationship Type="http://schemas.openxmlformats.org/officeDocument/2006/relationships/tableStyles" Target="/ppt/tableStyles.xml" Id="R673bcd93a032469b" /><Relationship Type="http://schemas.openxmlformats.org/officeDocument/2006/relationships/slide" Target="/ppt/slides/slide1.xml" Id="Rb9bfba064763499b" /><Relationship Type="http://schemas.openxmlformats.org/officeDocument/2006/relationships/slide" Target="/ppt/slides/slide2.xml" Id="R87d4ec5d34eb43f0" /><Relationship Type="http://schemas.openxmlformats.org/officeDocument/2006/relationships/slide" Target="/ppt/slides/slide3.xml" Id="R8474d145af2745e2" /><Relationship Type="http://schemas.openxmlformats.org/officeDocument/2006/relationships/slide" Target="/ppt/slides/slide4.xml" Id="R3b7cf32c75c046bc" /><Relationship Type="http://schemas.openxmlformats.org/officeDocument/2006/relationships/slide" Target="/ppt/slides/slide5.xml" Id="R4cd70265e39943e2" /><Relationship Type="http://schemas.openxmlformats.org/officeDocument/2006/relationships/slide" Target="/ppt/slides/slide6.xml" Id="R87dfcf4fb06b40f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1305ba3cb2140e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7651e9e342e494a" /><Relationship Type="http://schemas.openxmlformats.org/officeDocument/2006/relationships/notesMaster" Target="/ppt/notesMasters/notesMaster1.xml" Id="R4554220afa5b41c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05ca827043b46c5" /><Relationship Type="http://schemas.openxmlformats.org/officeDocument/2006/relationships/notesMaster" Target="/ppt/notesMasters/notesMaster1.xml" Id="Rdf3f742b9eee4c4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b9db22973ac49f5" /><Relationship Type="http://schemas.openxmlformats.org/officeDocument/2006/relationships/notesMaster" Target="/ppt/notesMasters/notesMaster1.xml" Id="R04d37161cc624b5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7bae277816f4556" /><Relationship Type="http://schemas.openxmlformats.org/officeDocument/2006/relationships/notesMaster" Target="/ppt/notesMasters/notesMaster1.xml" Id="R0d09e878fdf34ac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0a3d0eb44414c92" /><Relationship Type="http://schemas.openxmlformats.org/officeDocument/2006/relationships/notesMaster" Target="/ppt/notesMasters/notesMaster1.xml" Id="R7e5c39e53d3847c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a2f9420981f40e4" /><Relationship Type="http://schemas.openxmlformats.org/officeDocument/2006/relationships/notesMaster" Target="/ppt/notesMasters/notesMaster1.xml" Id="R5628c4307df84f9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04d1bbc40e4fb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14e6133d692417e" /><Relationship Type="http://schemas.openxmlformats.org/officeDocument/2006/relationships/slideLayout" Target="/ppt/slideLayouts/slideLayout1.xml" Id="Rd2ddb0ed684449b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2ddb0ed684449b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60b783e58848e2" /><Relationship Type="http://schemas.openxmlformats.org/officeDocument/2006/relationships/notesSlide" Target="/ppt/notesSlides/notesSlide1.xml" Id="R81a917402df1453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1e17fb71444a59" /><Relationship Type="http://schemas.openxmlformats.org/officeDocument/2006/relationships/notesSlide" Target="/ppt/notesSlides/notesSlide2.xml" Id="R872b841f137241b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ef5e9e2ddb4d50" /><Relationship Type="http://schemas.openxmlformats.org/officeDocument/2006/relationships/notesSlide" Target="/ppt/notesSlides/notesSlide3.xml" Id="Ra4ccfa6cbf1e451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eb4b114a77403b" /><Relationship Type="http://schemas.openxmlformats.org/officeDocument/2006/relationships/notesSlide" Target="/ppt/notesSlides/notesSlide4.xml" Id="Rf4e61dc1ba3149e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334a9ca0c0458f" /><Relationship Type="http://schemas.openxmlformats.org/officeDocument/2006/relationships/chart" Target="/ppt/slides/charts/chart1.xml" Id="R66c69779aa6c4470" /><Relationship Type="http://schemas.openxmlformats.org/officeDocument/2006/relationships/notesSlide" Target="/ppt/notesSlides/notesSlide5.xml" Id="R62ca2201b80e4a3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36adc2f0df465b" /><Relationship Type="http://schemas.openxmlformats.org/officeDocument/2006/relationships/notesSlide" Target="/ppt/notesSlides/notesSlide6.xml" Id="R1720d00392434050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stacked"/>
        <c:varyColors val="0"/>
        <c:ser>
          <c:idx val="0"/>
          <c:order val="0"/>
          <c:tx>
            <c:v>Horas realizadas</c:v>
          </c:tx>
          <c:spPr>
            <a:solidFill xmlns:a="http://schemas.openxmlformats.org/drawingml/2006/main">
              <a:srgbClr val="1C4378"/>
            </a:solidFill>
          </c:spPr>
          <c:cat>
            <c:strRef>
              <c:f>'Chart Data'!$A$2:$A$2</c:f>
              <c:strCache>
                <c:ptCount val="1"/>
                <c:pt idx="0">
                  <c:v>Bolsa estimada</c:v>
                </c:pt>
              </c:strCache>
            </c:strRef>
          </c:cat>
          <c:val>
            <c:numRef>
              <c:f>'Chart Data'!$B$2:$B$2</c:f>
              <c:numCache>
                <c:formatCode>General</c:formatCode>
                <c:ptCount val="1"/>
                <c:pt idx="0">
                  <c:v>31</c:v>
                </c:pt>
              </c:numCache>
            </c:numRef>
          </c:val>
        </c:ser>
        <c:ser>
          <c:idx val="1"/>
          <c:order val="1"/>
          <c:tx>
            <c:v>Pendiente</c:v>
          </c:tx>
          <c:spPr>
            <a:solidFill xmlns:a="http://schemas.openxmlformats.org/drawingml/2006/main">
              <a:srgbClr val="D9E4E8"/>
            </a:solidFill>
          </c:spPr>
          <c:cat>
            <c:strRef>
              <c:f>'Chart Data'!$C$2:$C$2</c:f>
              <c:strCache>
                <c:ptCount val="1"/>
                <c:pt idx="0">
                  <c:v>Bolsa estimada</c:v>
                </c:pt>
              </c:strCache>
            </c:strRef>
          </c:cat>
          <c:val>
            <c:numRef>
              <c:f>'Chart Data'!$D$2:$D$2</c:f>
              <c:numCache>
                <c:formatCode>General</c:formatCode>
                <c:ptCount val="1"/>
                <c:pt idx="0">
                  <c:v>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Helvetica Neue"/>
              <a:ea typeface="Helvetica Neue"/>
              <a:cs typeface="Helvetica Neue"/>
            </a:defRPr>
          </a:pPr>
        </a:p>
      </c:txPr>
    </c:legend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59E974-12A2-408A-A1A9-44750CC75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9144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C43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1C4378"/>
                </a:solidFill>
                <a:latin typeface="Helvetica Neue"/>
                <a:ea typeface="Helvetica Neue"/>
                <a:cs typeface="Helvetica Neue"/>
              </a:rPr>
              <a:t>Plataforma de Gestión Técnica y Nutricional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2498AE-0A87-4561-9A64-4C808C728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809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6FC7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6FC7DA"/>
                </a:solidFill>
                <a:latin typeface="Helvetica Neue"/>
                <a:ea typeface="Helvetica Neue"/>
                <a:cs typeface="Helvetica Neue"/>
              </a:rPr>
              <a:t>Alimentos Sevilla S.A.S.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A7875D-3F62-4CC5-8224-A0B0E1F77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2095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4378"/>
          </a:solidFill>
          <a:ln xmlns:a="http://schemas.openxmlformats.org/drawingml/2006/main" w="0">
            <a:solidFill>
              <a:srgbClr val="1C437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29058C-CD37-412E-A7BC-16757EFF3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9810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1010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10101"/>
                </a:solidFill>
                <a:latin typeface="Helvetica Neue"/>
                <a:ea typeface="Helvetica Neue"/>
                <a:cs typeface="Helvetica Neue"/>
              </a:rPr>
              <a:t>Demostración funcional y avance del proyecto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8B3490-E6EA-4D0D-BECB-4A00C711E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523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E7E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7E7E7D"/>
                </a:solidFill>
                <a:latin typeface="Helvetica Neue"/>
                <a:ea typeface="Helvetica Neue"/>
                <a:cs typeface="Helvetica Neue"/>
              </a:rPr>
              <a:t>Alimentos Sevilla S.A.S.  |  18 de septiembre de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0F1EF0-A743-4D09-92A8-E02491E70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E7E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7E7E7D"/>
                </a:solidFill>
                <a:latin typeface="Helvetica Neue"/>
                <a:ea typeface="Helvetica Neue"/>
                <a:cs typeface="Helvetica Neue"/>
              </a:rPr>
              <a:t>Alimentos Sevilla S.A.S.  |  Avance de trabajo  |  18 de septiembre de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E05E05-9814-4692-B879-1746C602D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7E7E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7E7E7D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5532913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98E5BB-C082-48E5-9A2D-7ACC9FDDD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C43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C4378"/>
                </a:solidFill>
                <a:latin typeface="Helvetica Neue"/>
                <a:ea typeface="Helvetica Neue"/>
                <a:cs typeface="Helvetica Neue"/>
              </a:rPr>
              <a:t>¿Qué resuelve la plataforma?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32AE42-82F2-4DDC-8E45-C8E33916C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857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C7DA"/>
          </a:solidFill>
          <a:ln xmlns:a="http://schemas.openxmlformats.org/drawingml/2006/main" w="0">
            <a:solidFill>
              <a:srgbClr val="6FC7DA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3C37AA-DBC8-429A-92BC-FCC258C86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E7E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7E7E7D"/>
                </a:solidFill>
                <a:latin typeface="Helvetica Neue"/>
                <a:ea typeface="Helvetica Neue"/>
                <a:cs typeface="Helvetica Neue"/>
              </a:rPr>
              <a:t>Un solo lugar para administrar la información técnica que hoy vive en archivos dispersos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0F3F14-13ED-43A8-B17F-CD58C7BA5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71700"/>
            <a:ext cx="4667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C43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C4378"/>
                </a:solidFill>
                <a:latin typeface="Helvetica Neue"/>
                <a:ea typeface="Helvetica Neue"/>
                <a:cs typeface="Helvetica Neue"/>
              </a:rPr>
              <a:t>Ingredientes y perfiles nutricionales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B0516E-C2CF-4E2E-9F73-080076384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38450"/>
            <a:ext cx="4667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1010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10101"/>
                </a:solidFill>
                <a:latin typeface="Helvetica Neue"/>
                <a:ea typeface="Helvetica Neue"/>
                <a:cs typeface="Helvetica Neue"/>
              </a:rPr>
              <a:t>Centraliza materias primas, datos nutricionales y códigos de identificación.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F03482-F851-4EBC-A26A-E92983FF9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0"/>
            <a:ext cx="4667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C43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C4378"/>
                </a:solidFill>
                <a:latin typeface="Helvetica Neue"/>
                <a:ea typeface="Helvetica Neue"/>
                <a:cs typeface="Helvetica Neue"/>
              </a:rPr>
              <a:t>Productos y formulaciones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76ABEF-0BCF-47A7-A5A5-96DAFB0E0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67250"/>
            <a:ext cx="4667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1010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10101"/>
                </a:solidFill>
                <a:latin typeface="Helvetica Neue"/>
                <a:ea typeface="Helvetica Neue"/>
                <a:cs typeface="Helvetica Neue"/>
              </a:rPr>
              <a:t>Organiza productos, presentaciones, recetas y versiones de cada fórmula.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684856-478F-4DFC-9654-0D9748B35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7170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C43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C4378"/>
                </a:solidFill>
                <a:latin typeface="Helvetica Neue"/>
                <a:ea typeface="Helvetica Neue"/>
                <a:cs typeface="Helvetica Neue"/>
              </a:rPr>
              <a:t>Usuarios y auditoría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95A2B2-CACB-4593-A190-A4114C3B0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38450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1010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10101"/>
                </a:solidFill>
                <a:latin typeface="Helvetica Neue"/>
                <a:ea typeface="Helvetica Neue"/>
                <a:cs typeface="Helvetica Neue"/>
              </a:rPr>
              <a:t>Controla quién puede realizar cada acción y deja registro de los cambios.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1767F2-F451-47F3-B1C6-24AA33A52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0050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C43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C4378"/>
                </a:solidFill>
                <a:latin typeface="Helvetica Neue"/>
                <a:ea typeface="Helvetica Neue"/>
                <a:cs typeface="Helvetica Neue"/>
              </a:rPr>
              <a:t>Base para los siguientes módulos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391C25-0E6A-4F91-BE53-6704C5ED9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67250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1010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10101"/>
                </a:solidFill>
                <a:latin typeface="Helvetica Neue"/>
                <a:ea typeface="Helvetica Neue"/>
                <a:cs typeface="Helvetica Neue"/>
              </a:rPr>
              <a:t>Prepara datos confiables para cálculos, costos y documentos técnicos futuros.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BE1737-409B-4930-A06D-5546BE0F6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E7E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7E7E7D"/>
                </a:solidFill>
                <a:latin typeface="Helvetica Neue"/>
                <a:ea typeface="Helvetica Neue"/>
                <a:cs typeface="Helvetica Neue"/>
              </a:rPr>
              <a:t>Alimentos Sevilla S.A.S.  |  Avance de trabajo  |  18 de septiembre de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0C9665-6B77-49AD-9A32-4B927E4F0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7E7E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7E7E7D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95659817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07281A-EA82-47BF-B1BA-643034362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C43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C4378"/>
                </a:solidFill>
                <a:latin typeface="Helvetica Neue"/>
                <a:ea typeface="Helvetica Neue"/>
                <a:cs typeface="Helvetica Neue"/>
              </a:rPr>
              <a:t>Qué podemos mostrar hoy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14816C-C8D9-4A71-90AA-108BD3B73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857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C7DA"/>
          </a:solidFill>
          <a:ln xmlns:a="http://schemas.openxmlformats.org/drawingml/2006/main" w="0">
            <a:solidFill>
              <a:srgbClr val="6FC7DA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820B46-B01D-4A5E-9D80-159E83AAC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E7E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7E7E7D"/>
                </a:solidFill>
                <a:latin typeface="Helvetica Neue"/>
                <a:ea typeface="Helvetica Neue"/>
                <a:cs typeface="Helvetica Neue"/>
              </a:rPr>
              <a:t>La demostración se concentra en los flujos que ya están disponibles para uso y revisión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345543-3CEC-4D49-A302-2CE32C8E1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05025"/>
            <a:ext cx="1714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4378"/>
          </a:solidFill>
          <a:ln xmlns:a="http://schemas.openxmlformats.org/drawingml/2006/main" w="0">
            <a:solidFill>
              <a:srgbClr val="1C437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E98FB0-2EED-46A7-A8D0-C8EE24992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0002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159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C43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C4378"/>
                </a:solidFill>
                <a:latin typeface="Helvetica Neue"/>
                <a:ea typeface="Helvetica Neue"/>
                <a:cs typeface="Helvetica Neue"/>
              </a:rPr>
              <a:t>Ingredientes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9A342A-790B-4D48-AC76-AB923D8E0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19300"/>
            <a:ext cx="638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1010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10101"/>
                </a:solidFill>
                <a:latin typeface="Helvetica Neue"/>
                <a:ea typeface="Helvetica Neue"/>
                <a:cs typeface="Helvetica Neue"/>
              </a:rPr>
              <a:t>Crear y consultar materias primas, perfiles nutricionales y códigos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87B989-654C-423D-A7D8-29870E64B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43200"/>
            <a:ext cx="1714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4378"/>
          </a:solidFill>
          <a:ln xmlns:a="http://schemas.openxmlformats.org/drawingml/2006/main" w="0">
            <a:solidFill>
              <a:srgbClr val="1C437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7C6DA3-853B-45C4-9F9A-89653A761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63842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159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C43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C4378"/>
                </a:solidFill>
                <a:latin typeface="Helvetica Neue"/>
                <a:ea typeface="Helvetica Neue"/>
                <a:cs typeface="Helvetica Neue"/>
              </a:rPr>
              <a:t>Productos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22DB81-80AB-4A13-9742-9B58FECC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57475"/>
            <a:ext cx="638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1010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10101"/>
                </a:solidFill>
                <a:latin typeface="Helvetica Neue"/>
                <a:ea typeface="Helvetica Neue"/>
                <a:cs typeface="Helvetica Neue"/>
              </a:rPr>
              <a:t>Crear productos terminados y sus presentaciones comerciales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F1F12F-733D-4368-A3C4-421049055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81375"/>
            <a:ext cx="1714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4378"/>
          </a:solidFill>
          <a:ln xmlns:a="http://schemas.openxmlformats.org/drawingml/2006/main" w="0">
            <a:solidFill>
              <a:srgbClr val="1C437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6DAD62-77FF-4E19-9A4C-2E01A1B89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2766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159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C43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C4378"/>
                </a:solidFill>
                <a:latin typeface="Helvetica Neue"/>
                <a:ea typeface="Helvetica Neue"/>
                <a:cs typeface="Helvetica Neue"/>
              </a:rPr>
              <a:t>Formulaciones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F7C90D-FA46-4B16-B821-49D63051D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95650"/>
            <a:ext cx="638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1010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10101"/>
                </a:solidFill>
                <a:latin typeface="Helvetica Neue"/>
                <a:ea typeface="Helvetica Neue"/>
                <a:cs typeface="Helvetica Neue"/>
              </a:rPr>
              <a:t>Definir receta, porcentajes, versiones y estados de revisión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9DE04E-FA37-4CF2-896B-892C884DF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19550"/>
            <a:ext cx="1714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4378"/>
          </a:solidFill>
          <a:ln xmlns:a="http://schemas.openxmlformats.org/drawingml/2006/main" w="0">
            <a:solidFill>
              <a:srgbClr val="1C437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29D366-0D16-45D4-904C-D8374F86E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1477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159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C43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C4378"/>
                </a:solidFill>
                <a:latin typeface="Helvetica Neue"/>
                <a:ea typeface="Helvetica Neue"/>
                <a:cs typeface="Helvetica Neue"/>
              </a:rPr>
              <a:t>Usuarios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DCFEBB-9F6B-4153-A56C-56F418D88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933825"/>
            <a:ext cx="638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1010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10101"/>
                </a:solidFill>
                <a:latin typeface="Helvetica Neue"/>
                <a:ea typeface="Helvetica Neue"/>
                <a:cs typeface="Helvetica Neue"/>
              </a:rPr>
              <a:t>Gestionar perfiles de acceso según las responsabilidades del equipo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1CE125-733D-4361-8C80-649EB1C65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57725"/>
            <a:ext cx="1714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4378"/>
          </a:solidFill>
          <a:ln xmlns:a="http://schemas.openxmlformats.org/drawingml/2006/main" w="0">
            <a:solidFill>
              <a:srgbClr val="1C437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119F5E-DE90-4952-9842-5EBDB0AB4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529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159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C43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C4378"/>
                </a:solidFill>
                <a:latin typeface="Helvetica Neue"/>
                <a:ea typeface="Helvetica Neue"/>
                <a:cs typeface="Helvetica Neue"/>
              </a:rPr>
              <a:t>Auditoría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0595D6-EBE9-4438-A42D-9DC7630AA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572000"/>
            <a:ext cx="638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1010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10101"/>
                </a:solidFill>
                <a:latin typeface="Helvetica Neue"/>
                <a:ea typeface="Helvetica Neue"/>
                <a:cs typeface="Helvetica Neue"/>
              </a:rPr>
              <a:t>Consultar qué cambió, quién lo realizó y cuándo ocurrió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C30031-FEC9-42F8-9E13-3142476AC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29250"/>
            <a:ext cx="981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E7E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7E7E7D"/>
                </a:solidFill>
                <a:latin typeface="Helvetica Neue"/>
                <a:ea typeface="Helvetica Neue"/>
                <a:cs typeface="Helvetica Neue"/>
              </a:rPr>
              <a:t>Los módulos de costos, normativa y documentos forman parte del plan de evolución. No se usarán como eje de esta demostración.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8575BF-ECBF-45AC-BF2B-1CE44221B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E7E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7E7E7D"/>
                </a:solidFill>
                <a:latin typeface="Helvetica Neue"/>
                <a:ea typeface="Helvetica Neue"/>
                <a:cs typeface="Helvetica Neue"/>
              </a:rPr>
              <a:t>Alimentos Sevilla S.A.S.  |  Avance de trabajo  |  18 de septiembre de 2026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09B663-ABD0-4856-8B0F-D3AC34626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7E7E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7E7E7D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2448918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D53397-6A1F-4546-BF05-4E42B9226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C43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C4378"/>
                </a:solidFill>
                <a:latin typeface="Helvetica Neue"/>
                <a:ea typeface="Helvetica Neue"/>
                <a:cs typeface="Helvetica Neue"/>
              </a:rPr>
              <a:t>Cómo se usa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9AF8F9-227F-4FFF-BBDA-A6D1F5EF5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857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C7DA"/>
          </a:solidFill>
          <a:ln xmlns:a="http://schemas.openxmlformats.org/drawingml/2006/main" w="0">
            <a:solidFill>
              <a:srgbClr val="6FC7DA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A50C7B-0B2B-42B6-89CD-15C1A33EF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E7E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7E7E7D"/>
                </a:solidFill>
                <a:latin typeface="Helvetica Neue"/>
                <a:ea typeface="Helvetica Neue"/>
                <a:cs typeface="Helvetica Neue"/>
              </a:rPr>
              <a:t>Un flujo de trabajo simple, desde la materia prima hasta una formulación controlada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A68351-9BB7-4CB6-821C-1CCE9445C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47875"/>
            <a:ext cx="895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4378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A2B5D0-F23C-43E1-93FB-0BA703C93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095500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1010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10101"/>
                </a:solidFill>
                <a:latin typeface="Helvetica Neue"/>
                <a:ea typeface="Helvetica Neue"/>
                <a:cs typeface="Helvetica Neue"/>
              </a:rPr>
              <a:t>Registrar o revisar el ingrediente y su información nutricional.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04DD6B-89F2-4FA2-9124-BFE3A724C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00375"/>
            <a:ext cx="895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4378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50D4F4-07E2-40B5-AE8F-7F05C9F75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048000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1010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10101"/>
                </a:solidFill>
                <a:latin typeface="Helvetica Neue"/>
                <a:ea typeface="Helvetica Neue"/>
                <a:cs typeface="Helvetica Neue"/>
              </a:rPr>
              <a:t>Crear el producto y definir sus presentaciones comerciales.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006017-F23F-470E-9340-0A5B1BB26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52875"/>
            <a:ext cx="895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4378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737DE1-C2DB-440C-8563-1BA8D075A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000500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1010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10101"/>
                </a:solidFill>
                <a:latin typeface="Helvetica Neue"/>
                <a:ea typeface="Helvetica Neue"/>
                <a:cs typeface="Helvetica Neue"/>
              </a:rPr>
              <a:t>Construir la formulación con sus ingredientes y porcentajes.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8D3FB1-776B-4BE4-8D69-57A206956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05375"/>
            <a:ext cx="895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4378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399DA3-0410-4752-85D1-164A87542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953000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1010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10101"/>
                </a:solidFill>
                <a:latin typeface="Helvetica Neue"/>
                <a:ea typeface="Helvetica Neue"/>
                <a:cs typeface="Helvetica Neue"/>
              </a:rPr>
              <a:t>Enviar la versión a revisión y conservar el historial de cambios.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BB7C29-9BF5-4BBB-8F85-99EB3C816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E7E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7E7E7D"/>
                </a:solidFill>
                <a:latin typeface="Helvetica Neue"/>
                <a:ea typeface="Helvetica Neue"/>
                <a:cs typeface="Helvetica Neue"/>
              </a:rPr>
              <a:t>Alimentos Sevilla S.A.S.  |  Avance de trabajo  |  18 de septiembre de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BADC37-9698-43D1-BAB5-A083359A5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7E7E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7E7E7D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3938979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C709C3-01F6-4C48-B4F1-3375B808F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C43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C4378"/>
                </a:solidFill>
                <a:latin typeface="Helvetica Neue"/>
                <a:ea typeface="Helvetica Neue"/>
                <a:cs typeface="Helvetica Neue"/>
              </a:rPr>
              <a:t>Avance del proyecto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B8A2D3-7768-4DD5-BDEE-927E0EABC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857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C7DA"/>
          </a:solidFill>
          <a:ln xmlns:a="http://schemas.openxmlformats.org/drawingml/2006/main" w="0">
            <a:solidFill>
              <a:srgbClr val="6FC7DA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0E79E6-4204-4D51-9C56-DB2715868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E7E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7E7E7D"/>
                </a:solidFill>
                <a:latin typeface="Helvetica Neue"/>
                <a:ea typeface="Helvetica Neue"/>
                <a:cs typeface="Helvetica Neue"/>
              </a:rPr>
              <a:t>El avance técnico se presenta aquí, separado de la experiencia final de la aplicación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876300" y="2286000"/>
          <a:ext xmlns:a="http://schemas.openxmlformats.org/drawingml/2006/main" cx="4953000" cy="2095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6c69779aa6c4470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E5421F-6DD0-4481-8FD5-06B6C5FE3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33625"/>
            <a:ext cx="371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C43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C4378"/>
                </a:solidFill>
                <a:latin typeface="Helvetica Neue"/>
                <a:ea typeface="Helvetica Neue"/>
                <a:cs typeface="Helvetica Neue"/>
              </a:rPr>
              <a:t>31,0 de 40,0 horas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3B864D-3946-463D-9402-EF61A6403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95625"/>
            <a:ext cx="3714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1010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10101"/>
                </a:solidFill>
                <a:latin typeface="Helvetica Neue"/>
                <a:ea typeface="Helvetica Neue"/>
                <a:cs typeface="Helvetica Neue"/>
              </a:rPr>
              <a:t>Implementado y validado técnicamente: Foundation, ingredientes, productos, formulaciones y costos.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009965-9591-4EE6-ABE4-03E9F6847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91000"/>
            <a:ext cx="3714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7E7E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7E7E7D"/>
                </a:solidFill>
                <a:latin typeface="Helvetica Neue"/>
                <a:ea typeface="Helvetica Neue"/>
                <a:cs typeface="Helvetica Neue"/>
              </a:rPr>
              <a:t>Pendiente de decisión y validación funcional: cálculo nutricional, sellos, datos reales y documentos oficiales.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DE88CE-A424-4D31-AF6E-8B8BAC02D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29250"/>
            <a:ext cx="962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C43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C4378"/>
                </a:solidFill>
                <a:latin typeface="Helvetica Neue"/>
                <a:ea typeface="Helvetica Neue"/>
                <a:cs typeface="Helvetica Neue"/>
              </a:rPr>
              <a:t>Este estado informa el proyecto. No forma parte del producto que usarán los equipos en operación.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D85C85-82C2-483F-8599-FCB9F01AB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E7E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7E7E7D"/>
                </a:solidFill>
                <a:latin typeface="Helvetica Neue"/>
                <a:ea typeface="Helvetica Neue"/>
                <a:cs typeface="Helvetica Neue"/>
              </a:rPr>
              <a:t>Alimentos Sevilla S.A.S.  |  Avance de trabajo  |  18 de septiembre de 2026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3208DC-9A35-42FF-A975-CEC07DEB9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7E7E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7E7E7D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3898396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170D0A-5C98-4C3A-AEF1-061949EA0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C43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C4378"/>
                </a:solidFill>
                <a:latin typeface="Helvetica Neue"/>
                <a:ea typeface="Helvetica Neue"/>
                <a:cs typeface="Helvetica Neue"/>
              </a:rPr>
              <a:t>Decisiones para continuar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937E40-2771-47A0-9A2D-B18C49B80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857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C7DA"/>
          </a:solidFill>
          <a:ln xmlns:a="http://schemas.openxmlformats.org/drawingml/2006/main" w="0">
            <a:solidFill>
              <a:srgbClr val="6FC7DA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A70763-635C-4A42-BB0A-24036C38B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E7E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7E7E7D"/>
                </a:solidFill>
                <a:latin typeface="Helvetica Neue"/>
                <a:ea typeface="Helvetica Neue"/>
                <a:cs typeface="Helvetica Neue"/>
              </a:rPr>
              <a:t>Estas definiciones permiten avanzar sin asumir reglas técnicas o regulatorias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771AC6-1D65-43C6-AD81-2B1F53D9F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C7DA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D9ED38-5359-4164-AB1D-109190E28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3370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C43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C4378"/>
                </a:solidFill>
                <a:latin typeface="Helvetica Neue"/>
                <a:ea typeface="Helvetica Neue"/>
                <a:cs typeface="Helvetica Neue"/>
              </a:rPr>
              <a:t>Cálculo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B63AD9-7AFA-4C81-8DBF-FEB89E6AB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29000"/>
            <a:ext cx="2190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1010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10101"/>
                </a:solidFill>
                <a:latin typeface="Helvetica Neue"/>
                <a:ea typeface="Helvetica Neue"/>
                <a:cs typeface="Helvetica Neue"/>
              </a:rPr>
              <a:t>Confirmar el archivo CTN de referencia y la fórmula de merma.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3485BE-8D85-4795-A405-D74D49812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1907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C7DA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1C7C39-84F2-4FB8-958B-D1A1ED9DB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93370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C43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C4378"/>
                </a:solidFill>
                <a:latin typeface="Helvetica Neue"/>
                <a:ea typeface="Helvetica Neue"/>
                <a:cs typeface="Helvetica Neue"/>
              </a:rPr>
              <a:t>Ingredientes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535C1D-AD0D-448E-8D26-61423A70B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429000"/>
            <a:ext cx="2190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1010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10101"/>
                </a:solidFill>
                <a:latin typeface="Helvetica Neue"/>
                <a:ea typeface="Helvetica Neue"/>
                <a:cs typeface="Helvetica Neue"/>
              </a:rPr>
              <a:t>Confirmar los ingredientes correctos cuando los archivos no coinciden.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51D5EE-AF75-4536-8F5E-3CBDFF04F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907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C7DA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851411-AC1E-427F-8E37-4FC7C0696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93370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C43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C4378"/>
                </a:solidFill>
                <a:latin typeface="Helvetica Neue"/>
                <a:ea typeface="Helvetica Neue"/>
                <a:cs typeface="Helvetica Neue"/>
              </a:rPr>
              <a:t>Costos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80F15A-EE85-4454-AF0F-31E41DDF1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429000"/>
            <a:ext cx="2190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1010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10101"/>
                </a:solidFill>
                <a:latin typeface="Helvetica Neue"/>
                <a:ea typeface="Helvetica Neue"/>
                <a:cs typeface="Helvetica Neue"/>
              </a:rPr>
              <a:t>Definir cómo tratar códigos SIESA con costos o unidades diferentes.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B0F689-70BA-45B7-9B5C-B04534B39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1907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C7DA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619591-B96D-4B8A-819A-963500B79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93370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C43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C4378"/>
                </a:solidFill>
                <a:latin typeface="Helvetica Neue"/>
                <a:ea typeface="Helvetica Neue"/>
                <a:cs typeface="Helvetica Neue"/>
              </a:rPr>
              <a:t>Permisos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E2C10A-1047-470B-AA54-C8741750F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3429000"/>
            <a:ext cx="2190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1010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10101"/>
                </a:solidFill>
                <a:latin typeface="Helvetica Neue"/>
                <a:ea typeface="Helvetica Neue"/>
                <a:cs typeface="Helvetica Neue"/>
              </a:rPr>
              <a:t>Confirmar quién revisa, devuelve o aprueba una formulación.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B3BC07-2602-4B49-A240-CF7EB30A5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863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21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C43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C4378"/>
                </a:solidFill>
                <a:latin typeface="Helvetica Neue"/>
                <a:ea typeface="Helvetica Neue"/>
                <a:cs typeface="Helvetica Neue"/>
              </a:rPr>
              <a:t>Salida esperada: decisiones registradas, responsables definidos y un caso de referencia para validar el siguiente módulo.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3EBC77-F090-430E-9F6C-8002D5590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E7E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7E7E7D"/>
                </a:solidFill>
                <a:latin typeface="Helvetica Neue"/>
                <a:ea typeface="Helvetica Neue"/>
                <a:cs typeface="Helvetica Neue"/>
              </a:rPr>
              <a:t>Alimentos Sevilla S.A.S.  |  Avance de trabajo  |  18 de septiembre de 2026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8549CA-A1DC-4F68-8421-5AB16768C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7E7E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7E7E7D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5998899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2026-09-18T11:46:33.3510000Z</dcterms:created>
  <dcterms:modified xsi:type="dcterms:W3CDTF">2026-09-18T11:46:33.3510000Z</dcterms:modified>
</coreProperties>
</file>