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b28166276473f" /><Relationship Type="http://schemas.openxmlformats.org/officeDocument/2006/relationships/extended-properties" Target="/docProps/app.xml" Id="R8a00f2cb2ef24a1f" /><Relationship Type="http://schemas.openxmlformats.org/officeDocument/2006/relationships/officeDocument" Target="/ppt/presentation.xml" Id="Rff9e69ee9a27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ca8e9e8dc4ce2"/>
  </p:sldMasterIdLst>
  <p:notesMasterIdLst>
    <p:notesMasterId xmlns:r="http://schemas.openxmlformats.org/officeDocument/2006/relationships" r:id="R31a84e49d5ca4586"/>
  </p:notesMasterIdLst>
  <p:sldIdLst>
    <p:sldId xmlns:r="http://schemas.openxmlformats.org/officeDocument/2006/relationships" id="256" r:id="R6e7ee45db9d5495d"/>
    <p:sldId xmlns:r="http://schemas.openxmlformats.org/officeDocument/2006/relationships" id="257" r:id="R1d52e0bd215f4a29"/>
    <p:sldId xmlns:r="http://schemas.openxmlformats.org/officeDocument/2006/relationships" id="258" r:id="R042cea5e42bf4990"/>
    <p:sldId xmlns:r="http://schemas.openxmlformats.org/officeDocument/2006/relationships" id="259" r:id="Rdcee3baabd1545ad"/>
    <p:sldId xmlns:r="http://schemas.openxmlformats.org/officeDocument/2006/relationships" id="260" r:id="R281b019a033c433f"/>
    <p:sldId xmlns:r="http://schemas.openxmlformats.org/officeDocument/2006/relationships" id="261" r:id="R175c4aa44b464a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40c9b3046e4df7" /><Relationship Type="http://schemas.openxmlformats.org/officeDocument/2006/relationships/slideMaster" Target="/ppt/slideMasters/slideMaster1.xml" Id="R976ca8e9e8dc4ce2" /><Relationship Type="http://schemas.openxmlformats.org/officeDocument/2006/relationships/notesMaster" Target="/ppt/notesMasters/notesMaster1.xml" Id="R31a84e49d5ca4586" /><Relationship Type="http://schemas.openxmlformats.org/officeDocument/2006/relationships/presProps" Target="/ppt/presProps.xml" Id="R90467e1b4c8e4144" /><Relationship Type="http://schemas.openxmlformats.org/officeDocument/2006/relationships/tableStyles" Target="/ppt/tableStyles.xml" Id="Rd3373a37fade4676" /><Relationship Type="http://schemas.openxmlformats.org/officeDocument/2006/relationships/slide" Target="/ppt/slides/slide1.xml" Id="R6e7ee45db9d5495d" /><Relationship Type="http://schemas.openxmlformats.org/officeDocument/2006/relationships/slide" Target="/ppt/slides/slide2.xml" Id="R1d52e0bd215f4a29" /><Relationship Type="http://schemas.openxmlformats.org/officeDocument/2006/relationships/slide" Target="/ppt/slides/slide3.xml" Id="R042cea5e42bf4990" /><Relationship Type="http://schemas.openxmlformats.org/officeDocument/2006/relationships/slide" Target="/ppt/slides/slide4.xml" Id="Rdcee3baabd1545ad" /><Relationship Type="http://schemas.openxmlformats.org/officeDocument/2006/relationships/slide" Target="/ppt/slides/slide5.xml" Id="R281b019a033c433f" /><Relationship Type="http://schemas.openxmlformats.org/officeDocument/2006/relationships/slide" Target="/ppt/slides/slide6.xml" Id="R175c4aa44b46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4486f0f8442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5b6fa67724b25" /><Relationship Type="http://schemas.openxmlformats.org/officeDocument/2006/relationships/notesMaster" Target="/ppt/notesMasters/notesMaster1.xml" Id="R9715ca889ada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367c61e0e4d75" /><Relationship Type="http://schemas.openxmlformats.org/officeDocument/2006/relationships/notesMaster" Target="/ppt/notesMasters/notesMaster1.xml" Id="R9561a3c2ccb0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bf87d7f854f02" /><Relationship Type="http://schemas.openxmlformats.org/officeDocument/2006/relationships/notesMaster" Target="/ppt/notesMasters/notesMaster1.xml" Id="Rbe45bca9c39542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25493b4e84383" /><Relationship Type="http://schemas.openxmlformats.org/officeDocument/2006/relationships/notesMaster" Target="/ppt/notesMasters/notesMaster1.xml" Id="Re96f793241804d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772160c10c4ddd" /><Relationship Type="http://schemas.openxmlformats.org/officeDocument/2006/relationships/notesMaster" Target="/ppt/notesMasters/notesMaster1.xml" Id="R0586b06a3fd846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459b4c5161457d" /><Relationship Type="http://schemas.openxmlformats.org/officeDocument/2006/relationships/notesMaster" Target="/ppt/notesMasters/notesMaster1.xml" Id="R3c91028207b14e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54f22eeb8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db2bdb61546e7" /><Relationship Type="http://schemas.openxmlformats.org/officeDocument/2006/relationships/slideLayout" Target="/ppt/slideLayouts/slideLayout1.xml" Id="R4d4165ddb91240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165ddb91240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90003fc6a4a9d" /><Relationship Type="http://schemas.openxmlformats.org/officeDocument/2006/relationships/notesSlide" Target="/ppt/notesSlides/notesSlide1.xml" Id="R8f0d7e3f6db24b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786193e74079" /><Relationship Type="http://schemas.openxmlformats.org/officeDocument/2006/relationships/chart" Target="/ppt/slides/charts/chart1.xml" Id="R53264e091c874c8e" /><Relationship Type="http://schemas.openxmlformats.org/officeDocument/2006/relationships/notesSlide" Target="/ppt/notesSlides/notesSlide2.xml" Id="Rb7440a3c06fd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2692336ce49ca" /><Relationship Type="http://schemas.openxmlformats.org/officeDocument/2006/relationships/notesSlide" Target="/ppt/notesSlides/notesSlide3.xml" Id="Rad601e6b822f42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ba62e8fd43f1" /><Relationship Type="http://schemas.openxmlformats.org/officeDocument/2006/relationships/notesSlide" Target="/ppt/notesSlides/notesSlide4.xml" Id="Rb9f8e47c90924f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671338504c09" /><Relationship Type="http://schemas.openxmlformats.org/officeDocument/2006/relationships/notesSlide" Target="/ppt/notesSlides/notesSlide5.xml" Id="R2a4bae4d41bc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aa00c675747a0" /><Relationship Type="http://schemas.openxmlformats.org/officeDocument/2006/relationships/notesSlide" Target="/ppt/notesSlides/notesSlide6.xml" Id="R948fa22127544cb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Horas declarables</c:v>
          </c:tx>
          <c:spPr>
            <a:solidFill xmlns:a="http://schemas.openxmlformats.org/drawingml/2006/main">
              <a:srgbClr val="2E7D5B"/>
            </a:solidFill>
          </c:spPr>
          <c:cat>
            <c:strRef>
              <c:f>'Chart Data'!$A$2:$A$2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</c:ser>
        <c:ser>
          <c:idx val="1"/>
          <c:order val="1"/>
          <c:tx>
            <c:v>Pendiente</c:v>
          </c:tx>
          <c:spPr>
            <a:solidFill xmlns:a="http://schemas.openxmlformats.org/drawingml/2006/main">
              <a:srgbClr val="D9E1E6"/>
            </a:solidFill>
          </c:spPr>
          <c:cat>
            <c:strRef>
              <c:f>'Chart Data'!$C$2:$C$2</c:f>
              <c:strCache>
                <c:ptCount val="1"/>
                <c:pt idx="0">
                  <c:v>Bolsa estimada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5DE5C-F2F9-4C59-A431-5DA2252A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Avance de la plataforma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57658-A069-4579-B27B-E06285D8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8C8C"/>
                </a:solidFill>
                <a:latin typeface="Helvetica Neue"/>
                <a:ea typeface="Helvetica Neue"/>
                <a:cs typeface="Helvetica Neue"/>
              </a:rPr>
              <a:t>Gestión técnica, nutricional, formulaciones y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A1E65-367C-4B11-8E4C-41990D1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21D"/>
          </a:solidFill>
          <a:ln xmlns:a="http://schemas.openxmlformats.org/drawingml/2006/main" w="0">
            <a:solidFill>
              <a:srgbClr val="D4821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65199-F326-4C68-B08B-A6B07629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Reunión de seguimiento</a:t>
            </a:r>
          </a:p>
          <a:p xmlns:a="http://schemas.openxmlformats.org/drawingml/2006/main">
            <a:pPr>
              <a:defRPr sz="187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Estado verificable, demostración local y decisiones pendientes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395A6-602B-4EF0-8B6F-84C609B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18 de septiembre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8E5EC-C72B-4EC7-B5ED-32CC84C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B34DB-55A8-448E-B3DE-F75233B6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2440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84447-8987-43B1-8106-5D5FEFB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Estado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64B5-99D9-4029-87F6-CF72A1CC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874CD-2CCE-445C-BDDF-18ECA96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El trabajo técnico validado y las decisiones que aún requieren confirmación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5524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264e091c874c8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9DF07-CFF9-44CB-B868-C9AF076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31,0 de 40,0 horas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9FC3-940A-487E-A5FE-19A0398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Horas defendibles: Foundation, ingredientes, productos, formulaciones, versionamiento y módulo de costos.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2226A-9C32-470B-977E-436D95AB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rPr>
              <a:t>No se declara terminado: motor nutricional, sellos, documentos oficiales, validación con usuarios, capacitación y entrega.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741C-B414-463D-A6B4-3B9FBAF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Evidencia técnica ya validada: migraciones, pruebas, tipos, lint y build. La aceptación funcional depende de las decisiones de esta reunión.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6D82A-CB68-4C11-885A-33C17EF5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B17E9-C1FC-456B-BF41-E3EA323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31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5C33D-DF28-4E7C-8AA6-FE77C4B2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Qué podemos mostrar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5FFAF-0128-44BF-B976-13374AA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2C46D-5B8B-45F8-BBC0-B52637AE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La aplicación está levantada localmente y el acceso administrativo fue comprobado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5FE09-7357-4C97-9AA2-962F455D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130F3-4CDF-40D5-9A49-B75E886B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Ingredientes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AA51A-9B3C-405B-BFFA-F6073662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Catálogo, perfiles nutricionales y códigos SIESA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79DEF-3BF9-40E3-B369-5E3D6EA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E7B65-6CA2-4A04-9CD3-600E861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Productos y presentaciones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7396D-6356-4688-919C-BF2EF623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57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Productos terminados, gramajes y porciones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E19AA-F064-4826-8F75-64D4BF8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F9FBC-4FF8-403B-8878-BBAC196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Formulaciones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63E36-9C74-4C35-B621-A5C86420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Recetas, versiones, estados y trazabilidad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196A3-178F-4222-87C0-58E1832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E3747-44B1-43D0-A077-4762B24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Costos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B9B1A-7641-491F-80C7-EB32100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Importación mensual, revisión y bloqueo de ambigüedades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4906E-7BD7-4172-AB21-3BC26D3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21D"/>
          </a:solidFill>
          <a:ln xmlns:a="http://schemas.openxmlformats.org/drawingml/2006/main" w="0">
            <a:solidFill>
              <a:srgbClr val="D4821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2FFB5-E528-499D-B7D7-82911B4D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Normativa y documentos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BB3B2-2D63-4019-93B2-07C57972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Preparación de datos y previsualización; no emisión oficial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D6023-7AE0-43CC-A0EE-CACF5496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rPr>
              <a:t>Nota para la demo: el dashboard aún conserva texto de Semana 2. Por eso el avance real se explicará con esta presentación y las pantallas funcionales.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72882-54DE-43A5-991F-85957CBC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F73E5-EFE9-4A69-BC94-1DB4A514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6476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A91B5-6D61-492B-B34B-9A245BEB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Decisiones necesarias para el cálculo nutricional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E54BE-9A7E-442A-B389-B13C178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80B91-3937-4D01-8DB3-85236FD6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Las respuestas definen qué puede automatizar la plataforma sin asumir 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A225B-2F24-4B0D-BFA7-DF7EE4A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6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1. Confirmar que CTN v11 es la referencia oficial para nutrientes por 100 g, porción, redondeos y sellos.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278BB-933C-4461-B425-BC47AC44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2. Confirmar la fórmula de merma. Propuesta: merma = (kg ingresados − kg finales) / kg ingresados. Nutriente final = nutriente antes de merma / (1 − merma).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3DCA2-17D4-4855-BA12-9C2B7A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3. Confirmar si la grasa saturada para sellos suma todos los ingredientes de la receta. El CTN actual parece considerar solo el tocino.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8EBC3-0C5E-4991-AF4B-F70C9A0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4. Confirmar cuáles son los ingredientes reales cuando el CTN y el archivo de junio muestran nombres distintos para colorante y humo.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52E21-D623-4191-BBCD-F244AA3E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8C8C"/>
                </a:solidFill>
                <a:latin typeface="Helvetica Neue"/>
                <a:ea typeface="Helvetica Neue"/>
                <a:cs typeface="Helvetica Neue"/>
              </a:rPr>
              <a:t>Resultado esperado: un caso patrón aprobado para comparar la plataforma contra el cálculo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62D47-C668-4334-8D79-E2EF858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0594A-5645-4683-9748-A0BEF17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2282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0E4BE-34B3-43A7-8403-60E8F51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Decisiones necesarias para costos y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1553B-215A-4FE6-B8F7-4E5D305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EC8A8-422E-4E38-BE85-1CB4BEC9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Preguntas que impiden aplicar datos ambiguos o asignar permisos incorrectos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11C84-B001-42EF-B6D9-AF903FD0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E6C53-E994-4D21-85D2-00C3B6C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335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Costos repetidos: cuando un código SIESA aparece con unidades o costos distintos, ¿qué valor debe usar Finanzas o debe corregir el archivo antes de aplicarlo?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93156-64B3-46A4-A987-A7A29F7F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47C5B-A869-4605-AE0E-411967C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Formulaciones: ¿quién puede devolver una fórmula de En revisión a Borrador: Calidad, I+D, Director Técnico o más de un rol?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92747-95E2-4FF2-992D-A2CC21EA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BD5DF-15B8-473C-ADF8-8AD6B9C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3852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Porcentajes: ¿la suma debe ser exactamente 100 % o se acepta una tolerancia por redondeo?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DDFE1-B156-44A9-AB05-859CB41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18378-9A8F-4C4D-AEE3-BFDEF916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Parámetros regulatorios: ¿solo Director Técnico/Administrador puede modificarlos o también Calidad?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D3E12-5682-4642-BE5C-B6F32E63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AD858-7C45-4364-903C-F2559449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Acceso: confirmar matriz de permisos, tiempo de sesión y si se requerirá SSO corporativo en el futuro.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C0B49-65FA-4176-A3E0-6BE01D57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13B3B"/>
                </a:solidFill>
                <a:latin typeface="Helvetica Neue"/>
                <a:ea typeface="Helvetica Neue"/>
                <a:cs typeface="Helvetica Neue"/>
              </a:rPr>
              <a:t>Hasta recibir estas respuestas, el sistema mantiene los casos ambiguos visibles y bloquea su aplicación automática.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89BB1-7153-4C41-ACC4-B228B3BC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DDAE7-498A-451B-8F4F-8CF5632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7555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BF09D-6F4F-4531-8F04-91E1A287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Guion de la reunión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2C67E-7DB3-46AB-9FFF-20260CF4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solidFill>
              <a:srgbClr val="008C8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AEFB3-9227-4350-B8E6-010D8F5D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Una conversación breve basada en evidencia y decisiones concretas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45443-7DAF-4282-A184-EAF8519E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B26DF-A76E-4699-9981-3A791ACC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243D9-9511-404D-947F-06F9EDE6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31 de 40 horas defendibles y qué no se declara cerrado.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86538-0A85-4A38-A4B1-BC7E6AF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0D193-D9F6-40F2-B4A7-EF45CC0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31583-ABE1-49D2-A878-ECFED226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Ingresar, revisar ingredientes, formulaciones, costos y trazabilidad.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AE373-1618-4F46-B5CC-6A4C3DFF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0F180-8EDB-4BEA-B5CB-22EDD53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Decisiones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F45CE-B61D-4AA0-98AF-B90E98F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Resolver cálculos, merma, ingredientes, costos y permisos.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F262B-5A15-436F-9082-DC1473C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90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AFAF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6EA48-66C3-4514-8F32-A118286E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03E17-C3D5-4AC1-9BD1-5F5E6C14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2900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313F"/>
                </a:solidFill>
                <a:latin typeface="Helvetica Neue"/>
                <a:ea typeface="Helvetica Neue"/>
                <a:cs typeface="Helvetica Neue"/>
              </a:rPr>
              <a:t>Registrar responsables, archivos de referencia y fecha de cada respuesta.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94604-F9A4-4319-B2ED-875B0C9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C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8C8C"/>
                </a:solidFill>
                <a:latin typeface="Helvetica Neue"/>
                <a:ea typeface="Helvetica Neue"/>
                <a:cs typeface="Helvetica Neue"/>
              </a:rPr>
              <a:t>Salida de la reunión: un caso nutricional de referencia validado, regla de costos duplicados, responsables de permisos y fechas de entrega de insumos.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1EAFF-D225-4E31-9DF6-75F5FC15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Alimentos Sevilla S.A.S.  |  Avance de trabajo  |  18 de septiembre de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2A3CA-D0A7-4B62-8D75-005564F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A6B7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567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2026-09-18T11:22:41.4330000Z</dcterms:created>
  <dcterms:modified xsi:type="dcterms:W3CDTF">2026-09-18T11:22:41.4330000Z</dcterms:modified>
</coreProperties>
</file>